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600" b="1" i="0">
                <a:solidFill>
                  <a:srgbClr val="FFFFFF"/>
                </a:solidFill>
                <a:latin typeface="Segoe UI"/>
              </a:rPr>
              <a:t>TO'RT FASL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88036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1">
                <a:solidFill>
                  <a:srgbClr val="E8F0FF"/>
                </a:solidFill>
                <a:latin typeface="Segoe UI"/>
              </a:rPr>
              <a:t>Yil fasllari — tabiatning eng go'zal davriy afsonasi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12848" y="4206240"/>
            <a:ext cx="1828800" cy="685800"/>
          </a:xfrm>
          <a:prstGeom prst="roundRect">
            <a:avLst/>
          </a:prstGeom>
          <a:solidFill>
            <a:srgbClr val="5FD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/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0B1026"/>
                </a:solidFill>
                <a:latin typeface="Segoe UI"/>
              </a:rPr>
              <a:t>BAHOR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4206240"/>
            <a:ext cx="1828800" cy="685800"/>
          </a:xfrm>
          <a:prstGeom prst="roundRect">
            <a:avLst/>
          </a:prstGeom>
          <a:solidFill>
            <a:srgbClr val="FFC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/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0B1026"/>
                </a:solidFill>
                <a:latin typeface="Segoe UI"/>
              </a:rPr>
              <a:t>YOZ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1" y="4206240"/>
            <a:ext cx="1828800" cy="685800"/>
          </a:xfrm>
          <a:prstGeom prst="round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/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0B1026"/>
                </a:solidFill>
                <a:latin typeface="Segoe UI"/>
              </a:rPr>
              <a:t>KUZ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93023" y="4206240"/>
            <a:ext cx="1828800" cy="685800"/>
          </a:xfrm>
          <a:prstGeom prst="round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/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0B1026"/>
                </a:solidFill>
                <a:latin typeface="Segoe UI"/>
              </a:rPr>
              <a:t>QISH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39496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E8F0FF"/>
                </a:solidFill>
                <a:latin typeface="Segoe UI"/>
              </a:rPr>
              <a:t>Zamonaviy animatsion slayd-shou  ·  2026</a:t>
            </a:r>
          </a:p>
        </p:txBody>
      </p:sp>
    </p:spTree>
  </p:cSld>
  <p:clrMapOvr>
    <a:masterClrMapping/>
  </p:clrMapOvr>
  <p:transition xmlns:p14="http://schemas.microsoft.com/office/powerpoint/2010/main" spd="slow" p14:dur="1800">
    <p14:prism/>
  </p:transition>
  <p:timing>
    <p:tnLst>
      <p:par>
        <p:cTn id="23" dur="indefinite" restart="never" nodeType="tmRoot">
          <p:childTnLst>
            <p:seq concurrent="1" nextAc="seek">
              <p:cTn id="24" dur="indefinite" nodeType="mainSeq"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" presetID="1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 from="0 0" to="100000 100000">
                                      <p:cBhvr>
                                        <p:cTn id="3" dur="800"/>
                                        <p:tgtEl>
                                          <p:spTgt spid="4"/>
                                        </p:tgtEl>
                                      </p:cBhvr>
                                    </p:animScale>
                                    <p:animEffect transition="in" filter="fade">
                                      <p:cBhvr>
                                        <p:cTn id="4" dur="8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Segoe UI"/>
              </a:rPr>
              <a:t>Bir yil — to'rt fasl davriy</a:t>
            </a:r>
          </a:p>
        </p:txBody>
      </p:sp>
      <p:sp>
        <p:nvSpPr>
          <p:cNvPr id="4" name="Oval 3"/>
          <p:cNvSpPr/>
          <p:nvPr/>
        </p:nvSpPr>
        <p:spPr>
          <a:xfrm>
            <a:off x="3813048" y="1371600"/>
            <a:ext cx="4572000" cy="4572000"/>
          </a:xfrm>
          <a:prstGeom prst="ellipse">
            <a:avLst/>
          </a:prstGeom>
          <a:noFill/>
          <a:ln w="19050">
            <a:solidFill>
              <a:srgbClr val="3A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956048" y="2514600"/>
            <a:ext cx="2286000" cy="2286000"/>
          </a:xfrm>
          <a:prstGeom prst="roundRect">
            <a:avLst/>
          </a:prstGeom>
          <a:solidFill>
            <a:srgbClr val="141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/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Segoe UI"/>
              </a:rPr>
              <a:t>365 kun</a:t>
            </a:r>
          </a:p>
          <a:p>
            <a:pPr algn="ctr">
              <a:spcAft>
                <a:spcPts val="600"/>
              </a:spcAft>
            </a:pPr>
            <a:r>
              <a:rPr sz="2200" b="1">
                <a:solidFill>
                  <a:srgbClr val="E8F0FF"/>
                </a:solidFill>
                <a:latin typeface="Segoe UI"/>
              </a:rPr>
              <a:t>4 fasl</a:t>
            </a:r>
          </a:p>
          <a:p>
            <a:pPr algn="ctr">
              <a:spcAft>
                <a:spcPts val="600"/>
              </a:spcAft>
            </a:pPr>
            <a:r>
              <a:rPr sz="2200" b="1">
                <a:solidFill>
                  <a:srgbClr val="E8F0FF"/>
                </a:solidFill>
                <a:latin typeface="Segoe UI"/>
              </a:rPr>
              <a:t>12 oy</a:t>
            </a:r>
          </a:p>
        </p:txBody>
      </p:sp>
      <p:sp>
        <p:nvSpPr>
          <p:cNvPr id="6" name="Oval 5"/>
          <p:cNvSpPr/>
          <p:nvPr/>
        </p:nvSpPr>
        <p:spPr>
          <a:xfrm>
            <a:off x="5184648" y="1234440"/>
            <a:ext cx="1828800" cy="1828800"/>
          </a:xfrm>
          <a:prstGeom prst="ellipse">
            <a:avLst/>
          </a:prstGeom>
          <a:solidFill>
            <a:srgbClr val="5FD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0B1026"/>
                </a:solidFill>
                <a:latin typeface="Segoe UI"/>
              </a:rPr>
              <a:t>BAHOR</a:t>
            </a:r>
          </a:p>
          <a:p>
            <a:pPr algn="ctr"/>
            <a:r>
              <a:rPr sz="1300" b="1">
                <a:solidFill>
                  <a:srgbClr val="0B1026"/>
                </a:solidFill>
                <a:latin typeface="Segoe UI"/>
              </a:rPr>
              <a:t>Mart–May</a:t>
            </a:r>
          </a:p>
        </p:txBody>
      </p:sp>
      <p:sp>
        <p:nvSpPr>
          <p:cNvPr id="7" name="Oval 6"/>
          <p:cNvSpPr/>
          <p:nvPr/>
        </p:nvSpPr>
        <p:spPr>
          <a:xfrm>
            <a:off x="7635240" y="3063240"/>
            <a:ext cx="1828800" cy="1828800"/>
          </a:xfrm>
          <a:prstGeom prst="ellipse">
            <a:avLst/>
          </a:prstGeom>
          <a:solidFill>
            <a:srgbClr val="FFC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0B1026"/>
                </a:solidFill>
                <a:latin typeface="Segoe UI"/>
              </a:rPr>
              <a:t>YOZ</a:t>
            </a:r>
          </a:p>
          <a:p>
            <a:pPr algn="ctr"/>
            <a:r>
              <a:rPr sz="1300" b="1">
                <a:solidFill>
                  <a:srgbClr val="0B1026"/>
                </a:solidFill>
                <a:latin typeface="Segoe UI"/>
              </a:rPr>
              <a:t>Iyun–Avg</a:t>
            </a:r>
          </a:p>
        </p:txBody>
      </p:sp>
      <p:sp>
        <p:nvSpPr>
          <p:cNvPr id="8" name="Oval 7"/>
          <p:cNvSpPr/>
          <p:nvPr/>
        </p:nvSpPr>
        <p:spPr>
          <a:xfrm>
            <a:off x="5184648" y="4892040"/>
            <a:ext cx="1828800" cy="1828800"/>
          </a:xfrm>
          <a:prstGeom prst="ellipse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0B1026"/>
                </a:solidFill>
                <a:latin typeface="Segoe UI"/>
              </a:rPr>
              <a:t>KUZ</a:t>
            </a:r>
          </a:p>
          <a:p>
            <a:pPr algn="ctr"/>
            <a:r>
              <a:rPr sz="1300" b="1">
                <a:solidFill>
                  <a:srgbClr val="0B1026"/>
                </a:solidFill>
                <a:latin typeface="Segoe UI"/>
              </a:rPr>
              <a:t>Sent–Noy</a:t>
            </a:r>
          </a:p>
        </p:txBody>
      </p:sp>
      <p:sp>
        <p:nvSpPr>
          <p:cNvPr id="9" name="Oval 8"/>
          <p:cNvSpPr/>
          <p:nvPr/>
        </p:nvSpPr>
        <p:spPr>
          <a:xfrm>
            <a:off x="2734056" y="3063240"/>
            <a:ext cx="1828800" cy="1828800"/>
          </a:xfrm>
          <a:prstGeom prst="ellipse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0B1026"/>
                </a:solidFill>
                <a:latin typeface="Segoe UI"/>
              </a:rPr>
              <a:t>QISH</a:t>
            </a:r>
          </a:p>
          <a:p>
            <a:pPr algn="ctr"/>
            <a:r>
              <a:rPr sz="1300" b="1">
                <a:solidFill>
                  <a:srgbClr val="0B1026"/>
                </a:solidFill>
                <a:latin typeface="Segoe UI"/>
              </a:rPr>
              <a:t>Dek–Fev</a:t>
            </a:r>
          </a:p>
        </p:txBody>
      </p:sp>
    </p:spTree>
  </p:cSld>
  <p:clrMapOvr>
    <a:masterClrMapping/>
  </p:clrMapOvr>
  <p:transition xmlns:p14="http://schemas.microsoft.com/office/powerpoint/2010/main" spd="slow" p14:dur="1600">
    <p14:honeycomb/>
  </p:transition>
  <p:timing>
    <p:tnLst>
      <p:par>
        <p:cTn id="24" dur="indefinite" restart="never" nodeType="tmRoot">
          <p:childTnLst>
            <p:seq concurrent="1" nextAc="seek">
              <p:cTn id="25" dur="indefinite" nodeType="mainSeq">
                <p:childTnLst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" presetID="16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 from="0 0" to="100000 100000">
                                      <p:cBhvr>
                                        <p:cTn id="6" dur="700"/>
                                        <p:tgtEl>
                                          <p:spTgt spid="5"/>
                                        </p:tgtEl>
                                      </p:cBhvr>
                                    </p:animScale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 from="0 0" to="100000 100000">
                                      <p:cBhvr>
                                        <p:cTn id="10" dur="600"/>
                                        <p:tgtEl>
                                          <p:spTgt spid="6"/>
                                        </p:tgtEl>
                                      </p:cBhvr>
                                    </p:animScale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6" presetClass="entr" presetSubtype="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 from="0 0" to="100000 100000">
                                      <p:cBhvr>
                                        <p:cTn id="14" dur="600"/>
                                        <p:tgtEl>
                                          <p:spTgt spid="7"/>
                                        </p:tgtEl>
                                      </p:cBhvr>
                                    </p:animScale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 from="0 0" to="100000 100000">
                                      <p:cBhvr>
                                        <p:cTn id="18" dur="600"/>
                                        <p:tgtEl>
                                          <p:spTgt spid="8"/>
                                        </p:tgtEl>
                                      </p:cBhvr>
                                    </p:animScale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 from="0 0" to="100000 100000">
                                      <p:cBhvr>
                                        <p:cTn id="22" dur="600"/>
                                        <p:tgtEl>
                                          <p:spTgt spid="9"/>
                                        </p:tgtEl>
                                      </p:cBhvr>
                                    </p:animScale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p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777240"/>
            <a:ext cx="5166360" cy="5303520"/>
          </a:xfrm>
          <a:prstGeom prst="roundRect">
            <a:avLst/>
          </a:prstGeom>
          <a:solidFill>
            <a:srgbClr val="0A0F1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0" rIns="228600" tIns="320040" bIns="137160"/>
          <a:lstStyle/>
          <a:p>
            <a:pPr algn="ctr"/>
            <a:r>
              <a:rPr sz="4000" b="1">
                <a:solidFill>
                  <a:srgbClr val="FFFFFF"/>
                </a:solidFill>
                <a:latin typeface="Segoe UI"/>
              </a:rPr>
              <a:t>BAHOR 🌸</a:t>
            </a:r>
          </a:p>
          <a:p>
            <a:r>
              <a:rPr sz="1800" i="1">
                <a:solidFill>
                  <a:srgbClr val="E8F0FF"/>
                </a:solidFill>
                <a:latin typeface="Segoe UI"/>
              </a:rPr>
              <a:t>Uyg'onish fasli</a:t>
            </a:r>
          </a:p>
          <a:p>
            <a:pPr>
              <a:spcBef>
                <a:spcPts val="1400"/>
              </a:spcBef>
            </a:pP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FFFFFF"/>
                </a:solidFill>
                <a:latin typeface="Segoe UI"/>
              </a:rPr>
              <a:t>•  Oylar: Mart, Aprel, May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FFFFFF"/>
                </a:solidFill>
                <a:latin typeface="Segoe UI"/>
              </a:rPr>
              <a:t>•  Kun uzayadi, tun qisqaradi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FFFFFF"/>
                </a:solidFill>
                <a:latin typeface="Segoe UI"/>
              </a:rPr>
              <a:t>•  Daraxtlar gullab, qushlar qaytadi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FFFFFF"/>
                </a:solidFill>
                <a:latin typeface="Segoe UI"/>
              </a:rPr>
              <a:t>•  Tabiat qishki uyqudan uyg'onadi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46520" y="1051560"/>
            <a:ext cx="5166360" cy="1234440"/>
          </a:xfrm>
          <a:prstGeom prst="roundRect">
            <a:avLst/>
          </a:prstGeom>
          <a:solidFill>
            <a:srgbClr val="0A0F1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/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📅  Mart – May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E8F0FF"/>
                </a:solidFill>
                <a:latin typeface="Segoe UI"/>
              </a:rPr>
              <a:t>Yilning birinchi fasli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46520" y="2624328"/>
            <a:ext cx="5166360" cy="1234440"/>
          </a:xfrm>
          <a:prstGeom prst="roundRect">
            <a:avLst/>
          </a:prstGeom>
          <a:solidFill>
            <a:srgbClr val="0A0F1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/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🌡  +10…+20°C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E8F0FF"/>
                </a:solidFill>
                <a:latin typeface="Segoe UI"/>
              </a:rPr>
              <a:t>Mo''tadil iliq harorat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4197096"/>
            <a:ext cx="5166360" cy="1234440"/>
          </a:xfrm>
          <a:prstGeom prst="roundRect">
            <a:avLst/>
          </a:prstGeom>
          <a:solidFill>
            <a:srgbClr val="0A0F1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/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🌸  Gullash mavsumi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E8F0FF"/>
                </a:solidFill>
                <a:latin typeface="Segoe UI"/>
              </a:rPr>
              <a:t>Olma, o'rik, gilos gullaydi</a:t>
            </a:r>
          </a:p>
        </p:txBody>
      </p:sp>
    </p:spTree>
  </p:cSld>
  <p:clrMapOvr>
    <a:masterClrMapping/>
  </p:clrMapOvr>
  <p:transition xmlns:p14="http://schemas.microsoft.com/office/powerpoint/2010/main" spd="slow" p14:dur="1700">
    <p14:glitter dir="l"/>
  </p:transition>
  <p:timing>
    <p:tnLst>
      <p:par>
        <p:cTn id="16" dur="indefinite" restart="never" nodeType="tmRoot">
          <p:childTnLst>
            <p:seq concurrent="1" nextAc="seek">
              <p:cTn id="17" dur="indefinite" nodeType="mainSeq"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" dur="8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" presetID="16" presetClass="entr" presetSubtype="0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 from="0 0" to="100000 100000">
                                      <p:cBhvr>
                                        <p:cTn id="6" dur="600"/>
                                        <p:tgtEl>
                                          <p:spTgt spid="5"/>
                                        </p:tgtEl>
                                      </p:cBhvr>
                                    </p:animScale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0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 from="0 0" to="100000 100000">
                                      <p:cBhvr>
                                        <p:cTn id="10" dur="600"/>
                                        <p:tgtEl>
                                          <p:spTgt spid="6"/>
                                        </p:tgtEl>
                                      </p:cBhvr>
                                    </p:animScale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6" presetClass="entr" presetSubtype="0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 from="0 0" to="100000 100000">
                                      <p:cBhvr>
                                        <p:cTn id="14" dur="600"/>
                                        <p:tgtEl>
                                          <p:spTgt spid="7"/>
                                        </p:tgtEl>
                                      </p:cBhvr>
                                    </p:animScale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umm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46520" y="777240"/>
            <a:ext cx="5166360" cy="5303520"/>
          </a:xfrm>
          <a:prstGeom prst="roundRect">
            <a:avLst/>
          </a:prstGeom>
          <a:solidFill>
            <a:srgbClr val="0A0F1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0" rIns="228600" tIns="320040" bIns="137160"/>
          <a:lstStyle/>
          <a:p>
            <a:pPr algn="ctr"/>
            <a:r>
              <a:rPr sz="4000" b="1">
                <a:solidFill>
                  <a:srgbClr val="FFFFFF"/>
                </a:solidFill>
                <a:latin typeface="Segoe UI"/>
              </a:rPr>
              <a:t>YOZ ☀️</a:t>
            </a:r>
          </a:p>
          <a:p>
            <a:r>
              <a:rPr sz="1800" i="1">
                <a:solidFill>
                  <a:srgbClr val="E8F0FF"/>
                </a:solidFill>
                <a:latin typeface="Segoe UI"/>
              </a:rPr>
              <a:t>Quyosh fasli</a:t>
            </a:r>
          </a:p>
          <a:p>
            <a:pPr>
              <a:spcBef>
                <a:spcPts val="1400"/>
              </a:spcBef>
            </a:pP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FFFFFF"/>
                </a:solidFill>
                <a:latin typeface="Segoe UI"/>
              </a:rPr>
              <a:t>•  Oylar: Iyun, Iyul, Avgust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FFFFFF"/>
                </a:solidFill>
                <a:latin typeface="Segoe UI"/>
              </a:rPr>
              <a:t>•  21-iyun — eng uzun kun (quyosh turishi)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FFFFFF"/>
                </a:solidFill>
                <a:latin typeface="Segoe UI"/>
              </a:rPr>
              <a:t>•  Tabiat jo'shqin: hosil boshlanadi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FFFFFF"/>
                </a:solidFill>
                <a:latin typeface="Segoe UI"/>
              </a:rPr>
              <a:t>•  Ta'til, sayil va sayohat mavsumi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051560"/>
            <a:ext cx="5166360" cy="1234440"/>
          </a:xfrm>
          <a:prstGeom prst="roundRect">
            <a:avLst/>
          </a:prstGeom>
          <a:solidFill>
            <a:srgbClr val="0A0F1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/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📅  Iyun – Avgust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E8F0FF"/>
                </a:solidFill>
                <a:latin typeface="Segoe UI"/>
              </a:rPr>
              <a:t>Yilning eng issiq fasli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624328"/>
            <a:ext cx="5166360" cy="1234440"/>
          </a:xfrm>
          <a:prstGeom prst="roundRect">
            <a:avLst/>
          </a:prstGeom>
          <a:solidFill>
            <a:srgbClr val="0A0F1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/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🌡  +25…+40°C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E8F0FF"/>
                </a:solidFill>
                <a:latin typeface="Segoe UI"/>
              </a:rPr>
              <a:t>Quyosh nurlari tik tushadi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4197096"/>
            <a:ext cx="5166360" cy="1234440"/>
          </a:xfrm>
          <a:prstGeom prst="roundRect">
            <a:avLst/>
          </a:prstGeom>
          <a:solidFill>
            <a:srgbClr val="0A0F1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/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🌻  Eng uzun kun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E8F0FF"/>
                </a:solidFill>
                <a:latin typeface="Segoe UI"/>
              </a:rPr>
              <a:t>21-iyun, kunduz ~15 soat</a:t>
            </a:r>
          </a:p>
        </p:txBody>
      </p:sp>
    </p:spTree>
  </p:cSld>
  <p:clrMapOvr>
    <a:masterClrMapping/>
  </p:clrMapOvr>
  <p:transition xmlns:p14="http://schemas.microsoft.com/office/powerpoint/2010/main" spd="slow" p14:dur="1700">
    <p14:vortex dir="l"/>
  </p:transition>
  <p:timing>
    <p:tnLst>
      <p:par>
        <p:cTn id="16" dur="indefinite" restart="never" nodeType="tmRoot">
          <p:childTnLst>
            <p:seq concurrent="1" nextAc="seek">
              <p:cTn id="17" dur="indefinite" nodeType="mainSeq"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" dur="8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" presetID="16" presetClass="entr" presetSubtype="0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 from="0 0" to="100000 100000">
                                      <p:cBhvr>
                                        <p:cTn id="6" dur="600"/>
                                        <p:tgtEl>
                                          <p:spTgt spid="5"/>
                                        </p:tgtEl>
                                      </p:cBhvr>
                                    </p:animScale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0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 from="0 0" to="100000 100000">
                                      <p:cBhvr>
                                        <p:cTn id="10" dur="600"/>
                                        <p:tgtEl>
                                          <p:spTgt spid="6"/>
                                        </p:tgtEl>
                                      </p:cBhvr>
                                    </p:animScale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6" presetClass="entr" presetSubtype="0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 from="0 0" to="100000 100000">
                                      <p:cBhvr>
                                        <p:cTn id="14" dur="600"/>
                                        <p:tgtEl>
                                          <p:spTgt spid="7"/>
                                        </p:tgtEl>
                                      </p:cBhvr>
                                    </p:animScale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utum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777240"/>
            <a:ext cx="5166360" cy="5303520"/>
          </a:xfrm>
          <a:prstGeom prst="roundRect">
            <a:avLst/>
          </a:prstGeom>
          <a:solidFill>
            <a:srgbClr val="0A0F1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0" rIns="228600" tIns="320040" bIns="137160"/>
          <a:lstStyle/>
          <a:p>
            <a:pPr algn="ctr"/>
            <a:r>
              <a:rPr sz="4000" b="1">
                <a:solidFill>
                  <a:srgbClr val="FFFFFF"/>
                </a:solidFill>
                <a:latin typeface="Segoe UI"/>
              </a:rPr>
              <a:t>KUZ 🍂</a:t>
            </a:r>
          </a:p>
          <a:p>
            <a:r>
              <a:rPr sz="1800" i="1">
                <a:solidFill>
                  <a:srgbClr val="E8F0FF"/>
                </a:solidFill>
                <a:latin typeface="Segoe UI"/>
              </a:rPr>
              <a:t>Hosil fasli</a:t>
            </a:r>
          </a:p>
          <a:p>
            <a:pPr>
              <a:spcBef>
                <a:spcPts val="1400"/>
              </a:spcBef>
            </a:pP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FFFFFF"/>
                </a:solidFill>
                <a:latin typeface="Segoe UI"/>
              </a:rPr>
              <a:t>•  Oylar: Sentabr, Oktabr, Noyabr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FFFFFF"/>
                </a:solidFill>
                <a:latin typeface="Segoe UI"/>
              </a:rPr>
              <a:t>•  23-sentabr — kuzgi tengkunlik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FFFFFF"/>
                </a:solidFill>
                <a:latin typeface="Segoe UI"/>
              </a:rPr>
              <a:t>•  Barglar sarg'ayib, to'kiladi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FFFFFF"/>
                </a:solidFill>
                <a:latin typeface="Segoe UI"/>
              </a:rPr>
              <a:t>•  Hosil yig'ish va shukrona mavsumi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46520" y="1051560"/>
            <a:ext cx="5166360" cy="1234440"/>
          </a:xfrm>
          <a:prstGeom prst="roundRect">
            <a:avLst/>
          </a:prstGeom>
          <a:solidFill>
            <a:srgbClr val="0A0F1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/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📅  Sentabr – Noyabr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E8F0FF"/>
                </a:solidFill>
                <a:latin typeface="Segoe UI"/>
              </a:rPr>
              <a:t>Yilning uchinchi fasli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46520" y="2624328"/>
            <a:ext cx="5166360" cy="1234440"/>
          </a:xfrm>
          <a:prstGeom prst="roundRect">
            <a:avLst/>
          </a:prstGeom>
          <a:solidFill>
            <a:srgbClr val="0A0F1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/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🌡  +5…+15°C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E8F0FF"/>
                </a:solidFill>
                <a:latin typeface="Segoe UI"/>
              </a:rPr>
              <a:t>Salqin va sokin havo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4197096"/>
            <a:ext cx="5166360" cy="1234440"/>
          </a:xfrm>
          <a:prstGeom prst="roundRect">
            <a:avLst/>
          </a:prstGeom>
          <a:solidFill>
            <a:srgbClr val="0A0F1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/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🌾  Hosil bayrami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E8F0FF"/>
                </a:solidFill>
                <a:latin typeface="Segoe UI"/>
              </a:rPr>
              <a:t>Bog' va dalalar barakasi</a:t>
            </a:r>
          </a:p>
        </p:txBody>
      </p:sp>
    </p:spTree>
  </p:cSld>
  <p:clrMapOvr>
    <a:masterClrMapping/>
  </p:clrMapOvr>
  <p:transition xmlns:p14="http://schemas.microsoft.com/office/powerpoint/2010/main" spd="slow" p14:dur="1700">
    <p14:shred dir="l"/>
  </p:transition>
  <p:timing>
    <p:tnLst>
      <p:par>
        <p:cTn id="16" dur="indefinite" restart="never" nodeType="tmRoot">
          <p:childTnLst>
            <p:seq concurrent="1" nextAc="seek">
              <p:cTn id="17" dur="indefinite" nodeType="mainSeq"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" dur="8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" presetID="16" presetClass="entr" presetSubtype="0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 from="0 0" to="100000 100000">
                                      <p:cBhvr>
                                        <p:cTn id="6" dur="600"/>
                                        <p:tgtEl>
                                          <p:spTgt spid="5"/>
                                        </p:tgtEl>
                                      </p:cBhvr>
                                    </p:animScale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0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 from="0 0" to="100000 100000">
                                      <p:cBhvr>
                                        <p:cTn id="10" dur="600"/>
                                        <p:tgtEl>
                                          <p:spTgt spid="6"/>
                                        </p:tgtEl>
                                      </p:cBhvr>
                                    </p:animScale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6" presetClass="entr" presetSubtype="0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 from="0 0" to="100000 100000">
                                      <p:cBhvr>
                                        <p:cTn id="14" dur="600"/>
                                        <p:tgtEl>
                                          <p:spTgt spid="7"/>
                                        </p:tgtEl>
                                      </p:cBhvr>
                                    </p:animScale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i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46520" y="777240"/>
            <a:ext cx="5166360" cy="5303520"/>
          </a:xfrm>
          <a:prstGeom prst="roundRect">
            <a:avLst/>
          </a:prstGeom>
          <a:solidFill>
            <a:srgbClr val="0A0F1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0" rIns="228600" tIns="320040" bIns="137160"/>
          <a:lstStyle/>
          <a:p>
            <a:pPr algn="ctr"/>
            <a:r>
              <a:rPr sz="4000" b="1">
                <a:solidFill>
                  <a:srgbClr val="FFFFFF"/>
                </a:solidFill>
                <a:latin typeface="Segoe UI"/>
              </a:rPr>
              <a:t>QISH ❄️</a:t>
            </a:r>
          </a:p>
          <a:p>
            <a:r>
              <a:rPr sz="1800" i="1">
                <a:solidFill>
                  <a:srgbClr val="E8F0FF"/>
                </a:solidFill>
                <a:latin typeface="Segoe UI"/>
              </a:rPr>
              <a:t>Sukunat fasli</a:t>
            </a:r>
          </a:p>
          <a:p>
            <a:pPr>
              <a:spcBef>
                <a:spcPts val="1400"/>
              </a:spcBef>
            </a:pP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FFFFFF"/>
                </a:solidFill>
                <a:latin typeface="Segoe UI"/>
              </a:rPr>
              <a:t>•  Oylar: Dekabr, Yanvar, Fevral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FFFFFF"/>
                </a:solidFill>
                <a:latin typeface="Segoe UI"/>
              </a:rPr>
              <a:t>•  21-dekabr — eng qisqa kun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FFFFFF"/>
                </a:solidFill>
                <a:latin typeface="Segoe UI"/>
              </a:rPr>
              <a:t>•  Qor yog'ib, daryolar muzlaydi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FFFFFF"/>
                </a:solidFill>
                <a:latin typeface="Segoe UI"/>
              </a:rPr>
              <a:t>•  Qishki sport va bayramlar mavsumi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051560"/>
            <a:ext cx="5166360" cy="1234440"/>
          </a:xfrm>
          <a:prstGeom prst="roundRect">
            <a:avLst/>
          </a:prstGeom>
          <a:solidFill>
            <a:srgbClr val="0A0F1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/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📅  Dekabr – Fevral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E8F0FF"/>
                </a:solidFill>
                <a:latin typeface="Segoe UI"/>
              </a:rPr>
              <a:t>Yilning so'nggi fasli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624328"/>
            <a:ext cx="5166360" cy="1234440"/>
          </a:xfrm>
          <a:prstGeom prst="roundRect">
            <a:avLst/>
          </a:prstGeom>
          <a:solidFill>
            <a:srgbClr val="0A0F1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/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🌡  −5…−20°C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E8F0FF"/>
                </a:solidFill>
                <a:latin typeface="Segoe UI"/>
              </a:rPr>
              <a:t>Sovuq va tiniq havo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4197096"/>
            <a:ext cx="5166360" cy="1234440"/>
          </a:xfrm>
          <a:prstGeom prst="roundRect">
            <a:avLst/>
          </a:prstGeom>
          <a:solidFill>
            <a:srgbClr val="0A0F1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/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⛷  Qishki sport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E8F0FF"/>
                </a:solidFill>
                <a:latin typeface="Segoe UI"/>
              </a:rPr>
              <a:t>Chang'i, konki, qorbobo</a:t>
            </a:r>
          </a:p>
        </p:txBody>
      </p:sp>
    </p:spTree>
  </p:cSld>
  <p:clrMapOvr>
    <a:masterClrMapping/>
  </p:clrMapOvr>
  <p:transition xmlns:p14="http://schemas.microsoft.com/office/powerpoint/2010/main" spd="slow" p14:dur="1700">
    <p14:flip dir="l"/>
  </p:transition>
  <p:timing>
    <p:tnLst>
      <p:par>
        <p:cTn id="16" dur="indefinite" restart="never" nodeType="tmRoot">
          <p:childTnLst>
            <p:seq concurrent="1" nextAc="seek">
              <p:cTn id="17" dur="indefinite" nodeType="mainSeq"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" dur="8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" presetID="16" presetClass="entr" presetSubtype="0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 from="0 0" to="100000 100000">
                                      <p:cBhvr>
                                        <p:cTn id="6" dur="600"/>
                                        <p:tgtEl>
                                          <p:spTgt spid="5"/>
                                        </p:tgtEl>
                                      </p:cBhvr>
                                    </p:animScale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0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 from="0 0" to="100000 100000">
                                      <p:cBhvr>
                                        <p:cTn id="10" dur="600"/>
                                        <p:tgtEl>
                                          <p:spTgt spid="6"/>
                                        </p:tgtEl>
                                      </p:cBhvr>
                                    </p:animScale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6" presetClass="entr" presetSubtype="0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 from="0 0" to="100000 100000">
                                      <p:cBhvr>
                                        <p:cTn id="14" dur="600"/>
                                        <p:tgtEl>
                                          <p:spTgt spid="7"/>
                                        </p:tgtEl>
                                      </p:cBhvr>
                                    </p:animScale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Segoe UI"/>
              </a:rPr>
              <a:t>Fasllar solishtirmasi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463040"/>
            <a:ext cx="2670048" cy="4480560"/>
          </a:xfrm>
          <a:prstGeom prst="roundRect">
            <a:avLst/>
          </a:prstGeom>
          <a:solidFill>
            <a:srgbClr val="15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/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0B1026"/>
                </a:solidFill>
                <a:latin typeface="Segoe UI"/>
              </a:rPr>
              <a:t>BAHOR</a:t>
            </a:r>
          </a:p>
          <a:p>
            <a:pPr algn="ctr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>Mart–May</a:t>
            </a:r>
          </a:p>
          <a:p>
            <a:pPr algn="ctr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>+10…20°C</a:t>
            </a:r>
          </a:p>
          <a:p>
            <a:pPr algn="ctr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>kun uzayadi</a:t>
            </a:r>
          </a:p>
          <a:p>
            <a:pPr algn="ctr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>gullash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6968" y="1234440"/>
            <a:ext cx="2029968" cy="640080"/>
          </a:xfrm>
          <a:prstGeom prst="roundRect">
            <a:avLst/>
          </a:prstGeom>
          <a:solidFill>
            <a:srgbClr val="5FD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B1026"/>
                </a:solidFill>
                <a:latin typeface="Segoe UI"/>
              </a:rPr>
              <a:t>BAHOR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64992" y="1463040"/>
            <a:ext cx="2670048" cy="4480560"/>
          </a:xfrm>
          <a:prstGeom prst="roundRect">
            <a:avLst/>
          </a:prstGeom>
          <a:solidFill>
            <a:srgbClr val="15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/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0B1026"/>
                </a:solidFill>
                <a:latin typeface="Segoe UI"/>
              </a:rPr>
              <a:t>YOZ</a:t>
            </a:r>
          </a:p>
          <a:p>
            <a:pPr algn="ctr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>Iyun–Avg</a:t>
            </a:r>
          </a:p>
          <a:p>
            <a:pPr algn="ctr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>+25…40°C</a:t>
            </a:r>
          </a:p>
          <a:p>
            <a:pPr algn="ctr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>eng uzun kun</a:t>
            </a:r>
          </a:p>
          <a:p>
            <a:pPr algn="ctr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>jo'shqinlik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85032" y="1234440"/>
            <a:ext cx="2029968" cy="640080"/>
          </a:xfrm>
          <a:prstGeom prst="roundRect">
            <a:avLst/>
          </a:prstGeom>
          <a:solidFill>
            <a:srgbClr val="FFC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B1026"/>
                </a:solidFill>
                <a:latin typeface="Segoe UI"/>
              </a:rPr>
              <a:t>YOZ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1463040"/>
            <a:ext cx="2670048" cy="4480560"/>
          </a:xfrm>
          <a:prstGeom prst="roundRect">
            <a:avLst/>
          </a:prstGeom>
          <a:solidFill>
            <a:srgbClr val="15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/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0B1026"/>
                </a:solidFill>
                <a:latin typeface="Segoe UI"/>
              </a:rPr>
              <a:t>KUZ</a:t>
            </a:r>
          </a:p>
          <a:p>
            <a:pPr algn="ctr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>Sent–Noy</a:t>
            </a:r>
          </a:p>
          <a:p>
            <a:pPr algn="ctr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>+5…15°C</a:t>
            </a:r>
          </a:p>
          <a:p>
            <a:pPr algn="ctr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>kun qisqaradi</a:t>
            </a:r>
          </a:p>
          <a:p>
            <a:pPr algn="ctr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>hosil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83096" y="1234440"/>
            <a:ext cx="2029968" cy="640080"/>
          </a:xfrm>
          <a:prstGeom prst="round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B1026"/>
                </a:solidFill>
                <a:latin typeface="Segoe UI"/>
              </a:rPr>
              <a:t>KUZ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463040"/>
            <a:ext cx="2670048" cy="4480560"/>
          </a:xfrm>
          <a:prstGeom prst="roundRect">
            <a:avLst/>
          </a:prstGeom>
          <a:solidFill>
            <a:srgbClr val="15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/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0B1026"/>
                </a:solidFill>
                <a:latin typeface="Segoe UI"/>
              </a:rPr>
              <a:t>QISH</a:t>
            </a:r>
          </a:p>
          <a:p>
            <a:pPr algn="ctr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>Dek–Fev</a:t>
            </a:r>
          </a:p>
          <a:p>
            <a:pPr algn="ctr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>−5…−20°C</a:t>
            </a:r>
          </a:p>
          <a:p>
            <a:pPr algn="ctr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>eng qisqa kun</a:t>
            </a:r>
          </a:p>
          <a:p>
            <a:pPr algn="ctr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>sukunat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81160" y="1234440"/>
            <a:ext cx="2029968" cy="640080"/>
          </a:xfrm>
          <a:prstGeom prst="round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B1026"/>
                </a:solidFill>
                <a:latin typeface="Segoe UI"/>
              </a:rPr>
              <a:t>QISH</a:t>
            </a:r>
          </a:p>
        </p:txBody>
      </p:sp>
    </p:spTree>
  </p:cSld>
  <p:clrMapOvr>
    <a:masterClrMapping/>
  </p:clrMapOvr>
  <p:transition xmlns:p14="http://schemas.microsoft.com/office/powerpoint/2010/main" spd="slow" p14:dur="1500">
    <p14:pan dir="l"/>
  </p:transition>
  <p:timing>
    <p:tnLst>
      <p:par>
        <p:cTn id="36" dur="indefinite" restart="never" nodeType="tmRoot">
          <p:childTnLst>
            <p:seq concurrent="1" nextAc="seek">
              <p:cTn id="37" dur="indefinite" nodeType="mainSeq"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" presetID="16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 from="0 0" to="100000 100000">
                                      <p:cBhvr>
                                        <p:cTn id="6" dur="550"/>
                                        <p:tgtEl>
                                          <p:spTgt spid="4"/>
                                        </p:tgtEl>
                                      </p:cBhvr>
                                    </p:animScale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 from="0 0" to="100000 100000">
                                      <p:cBhvr>
                                        <p:cTn id="10" dur="550"/>
                                        <p:tgtEl>
                                          <p:spTgt spid="5"/>
                                        </p:tgtEl>
                                      </p:cBhvr>
                                    </p:animScale>
                                    <p:animEffect transition="in" filter="fade">
                                      <p:cBhvr>
                                        <p:cTn id="11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6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 from="0 0" to="100000 100000">
                                      <p:cBhvr>
                                        <p:cTn id="14" dur="550"/>
                                        <p:tgtEl>
                                          <p:spTgt spid="6"/>
                                        </p:tgtEl>
                                      </p:cBhvr>
                                    </p:animScale>
                                    <p:animEffect transition="in" filter="fade">
                                      <p:cBhvr>
                                        <p:cTn id="15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 from="0 0" to="100000 100000">
                                      <p:cBhvr>
                                        <p:cTn id="18" dur="550"/>
                                        <p:tgtEl>
                                          <p:spTgt spid="7"/>
                                        </p:tgtEl>
                                      </p:cBhvr>
                                    </p:animScale>
                                    <p:animEffect transition="in" filter="fade">
                                      <p:cBhvr>
                                        <p:cTn id="19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 from="0 0" to="100000 100000">
                                      <p:cBhvr>
                                        <p:cTn id="22" dur="550"/>
                                        <p:tgtEl>
                                          <p:spTgt spid="8"/>
                                        </p:tgtEl>
                                      </p:cBhvr>
                                    </p:animScale>
                                    <p:animEffect transition="in" filter="fade">
                                      <p:cBhvr>
                                        <p:cTn id="23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 from="0 0" to="100000 100000">
                                      <p:cBhvr>
                                        <p:cTn id="26" dur="550"/>
                                        <p:tgtEl>
                                          <p:spTgt spid="9"/>
                                        </p:tgtEl>
                                      </p:cBhvr>
                                    </p:animScale>
                                    <p:animEffect transition="in" filter="fade">
                                      <p:cBhvr>
                                        <p:cTn id="27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 from="0 0" to="100000 100000">
                                      <p:cBhvr>
                                        <p:cTn id="30" dur="550"/>
                                        <p:tgtEl>
                                          <p:spTgt spid="10"/>
                                        </p:tgtEl>
                                      </p:cBhvr>
                                    </p:animScale>
                                    <p:animEffect transition="in" filter="fade">
                                      <p:cBhvr>
                                        <p:cTn id="31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 from="0 0" to="100000 100000">
                                      <p:cBhvr>
                                        <p:cTn id="34" dur="550"/>
                                        <p:tgtEl>
                                          <p:spTgt spid="11"/>
                                        </p:tgtEl>
                                      </p:cBhvr>
                                    </p:animScale>
                                    <p:animEffect transition="in" filter="fade">
                                      <p:cBhvr>
                                        <p:cTn id="35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Segoe UI"/>
              </a:rPr>
              <a:t>Qiziqarli faktlar 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63040"/>
            <a:ext cx="5257800" cy="2286000"/>
          </a:xfrm>
          <a:prstGeom prst="roundRect">
            <a:avLst/>
          </a:prstGeom>
          <a:solidFill>
            <a:srgbClr val="15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/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C93C"/>
                </a:solidFill>
                <a:latin typeface="Segoe UI"/>
              </a:rPr>
              <a:t>🌍  Sabab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E8F0FF"/>
                </a:solidFill>
                <a:latin typeface="Segoe UI"/>
              </a:rPr>
              <a:t>Yer o'qi 23,5° ga og'ganligi sababli fasllar almashadi — Yorug'lik burchagi yil davomida o'zgaradi.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463040"/>
            <a:ext cx="5257800" cy="2286000"/>
          </a:xfrm>
          <a:prstGeom prst="roundRect">
            <a:avLst/>
          </a:prstGeom>
          <a:solidFill>
            <a:srgbClr val="15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/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C93C"/>
                </a:solidFill>
                <a:latin typeface="Segoe UI"/>
              </a:rPr>
              <a:t>🔄  Teskari fasllar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E8F0FF"/>
                </a:solidFill>
                <a:latin typeface="Segoe UI"/>
              </a:rPr>
              <a:t>Janubiy yarimsharda fasllar teskari: bizda qish bo'lsa, Avstraliyada yoz bo'ladi.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977639"/>
            <a:ext cx="5257800" cy="2286000"/>
          </a:xfrm>
          <a:prstGeom prst="roundRect">
            <a:avLst/>
          </a:prstGeom>
          <a:solidFill>
            <a:srgbClr val="15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/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C93C"/>
                </a:solidFill>
                <a:latin typeface="Segoe UI"/>
              </a:rPr>
              <a:t>🌴  Ekvator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E8F0FF"/>
                </a:solidFill>
                <a:latin typeface="Segoe UI"/>
              </a:rPr>
              <a:t>Ekvator atrofida fasl deyarli sezilmaydi — faqat yomg'irli va quruq mavsum ajratiladi.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3977639"/>
            <a:ext cx="5257800" cy="2286000"/>
          </a:xfrm>
          <a:prstGeom prst="roundRect">
            <a:avLst/>
          </a:prstGeom>
          <a:solidFill>
            <a:srgbClr val="15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/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C93C"/>
                </a:solidFill>
                <a:latin typeface="Segoe UI"/>
              </a:rPr>
              <a:t>🌡  Rekordlar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E8F0FF"/>
                </a:solidFill>
                <a:latin typeface="Segoe UI"/>
              </a:rPr>
              <a:t>Eng sovuq: −89,2°C (Antarktida). Eng issiq: +56,7°C (Dolina o'limi, AQSh).</a:t>
            </a:r>
          </a:p>
        </p:txBody>
      </p:sp>
    </p:spTree>
  </p:cSld>
  <p:clrMapOvr>
    <a:masterClrMapping/>
  </p:clrMapOvr>
  <p:transition xmlns:p14="http://schemas.microsoft.com/office/powerpoint/2010/main" spd="slow" p14:dur="1700">
    <p14:fragment/>
  </p:transition>
  <p:timing>
    <p:tnLst>
      <p:par>
        <p:cTn id="20" dur="indefinite" restart="never" nodeType="tmRoot">
          <p:childTnLst>
            <p:seq concurrent="1" nextAc="seek">
              <p:cTn id="21" dur="indefinite" nodeType="mainSeq"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" presetID="16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 from="0 0" to="100000 100000">
                                      <p:cBhvr>
                                        <p:cTn id="6" dur="600"/>
                                        <p:tgtEl>
                                          <p:spTgt spid="4"/>
                                        </p:tgtEl>
                                      </p:cBhvr>
                                    </p:animScale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 from="0 0" to="100000 100000">
                                      <p:cBhvr>
                                        <p:cTn id="10" dur="600"/>
                                        <p:tgtEl>
                                          <p:spTgt spid="5"/>
                                        </p:tgtEl>
                                      </p:cBhvr>
                                    </p:animScale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6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 from="0 0" to="100000 100000">
                                      <p:cBhvr>
                                        <p:cTn id="14" dur="600"/>
                                        <p:tgtEl>
                                          <p:spTgt spid="6"/>
                                        </p:tgtEl>
                                      </p:cBhvr>
                                    </p:animScale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 from="0 0" to="100000 100000">
                                      <p:cBhvr>
                                        <p:cTn id="18" dur="600"/>
                                        <p:tgtEl>
                                          <p:spTgt spid="7"/>
                                        </p:tgtEl>
                                      </p:cBhvr>
                                    </p:animScale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>
              <a:alpha val="4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Segoe UI"/>
              </a:rPr>
              <a:t>Tabiat — eng buyuk san'atkor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56616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1">
                <a:solidFill>
                  <a:srgbClr val="E8F0FF"/>
                </a:solidFill>
                <a:latin typeface="Segoe UI"/>
              </a:rPr>
              <a:t>E'tiboringiz uchun rahmat!  🍃 ☀️  ❄️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12848" y="4663440"/>
            <a:ext cx="1828800" cy="685800"/>
          </a:xfrm>
          <a:prstGeom prst="roundRect">
            <a:avLst/>
          </a:prstGeom>
          <a:solidFill>
            <a:srgbClr val="5FD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/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0B1026"/>
                </a:solidFill>
                <a:latin typeface="Segoe UI"/>
              </a:rPr>
              <a:t>BAHOR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4663440"/>
            <a:ext cx="1828800" cy="685800"/>
          </a:xfrm>
          <a:prstGeom prst="roundRect">
            <a:avLst/>
          </a:prstGeom>
          <a:solidFill>
            <a:srgbClr val="FFC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/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0B1026"/>
                </a:solidFill>
                <a:latin typeface="Segoe UI"/>
              </a:rPr>
              <a:t>YOZ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1" y="4663440"/>
            <a:ext cx="1828800" cy="685800"/>
          </a:xfrm>
          <a:prstGeom prst="round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/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0B1026"/>
                </a:solidFill>
                <a:latin typeface="Segoe UI"/>
              </a:rPr>
              <a:t>KUZ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93023" y="4663440"/>
            <a:ext cx="1828800" cy="685800"/>
          </a:xfrm>
          <a:prstGeom prst="round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/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0B1026"/>
                </a:solidFill>
                <a:latin typeface="Segoe UI"/>
              </a:rPr>
              <a:t>QISH</a:t>
            </a:r>
          </a:p>
        </p:txBody>
      </p:sp>
    </p:spTree>
  </p:cSld>
  <p:clrMapOvr>
    <a:masterClrMapping/>
  </p:clrMapOvr>
  <p:transition xmlns:p14="http://schemas.microsoft.com/office/powerpoint/2010/main" spd="slow" p14:dur="1800">
    <p14:ripple/>
  </p:transition>
  <p:timing>
    <p:tnLst>
      <p:par>
        <p:cTn id="20" dur="indefinite" restart="never" nodeType="tmRoot">
          <p:childTnLst>
            <p:seq concurrent="1" nextAc="seek">
              <p:cTn id="21" dur="indefinite" nodeType="mainSeq"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" presetID="1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 from="0 0" to="100000 100000">
                                      <p:cBhvr>
                                        <p:cTn id="3" dur="800"/>
                                        <p:tgtEl>
                                          <p:spTgt spid="4"/>
                                        </p:tgtEl>
                                      </p:cBhvr>
                                    </p:animScale>
                                    <p:animEffect transition="in" filter="fade">
                                      <p:cBhvr>
                                        <p:cTn id="4" dur="8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cTn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